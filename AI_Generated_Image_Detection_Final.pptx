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-11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0567E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6B98A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300" b="1" i="0" u="none" strike="noStrike">
                    <a:solidFill>
                      <a:srgbClr val="1E21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Approach 1
(SimpleCNN)</c:v>
                </c:pt>
                <c:pt idx="1">
                  <c:v>Approach 2
(ResNet-50)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93.3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4518656"/>
        <c:axId val="174521728"/>
      </c:barChart>
      <c:catAx>
        <c:axId val="174518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079"/>
                </a:solidFill>
                <a:latin typeface="Calibri"/>
              </a:defRPr>
            </a:pPr>
            <a:endParaRPr lang="en-US"/>
          </a:p>
        </c:txPr>
        <c:crossAx val="174521728"/>
        <c:crosses val="autoZero"/>
        <c:auto val="1"/>
        <c:lblAlgn val="ctr"/>
        <c:lblOffset val="100"/>
        <c:noMultiLvlLbl val="1"/>
      </c:catAx>
      <c:valAx>
        <c:axId val="174521728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B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079"/>
                </a:solidFill>
                <a:latin typeface="Arial"/>
              </a:defRPr>
            </a:pPr>
            <a:endParaRPr lang="en-US"/>
          </a:p>
        </c:txPr>
        <c:crossAx val="174518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CE724-AAA5-4F38-996D-C745910B5DA0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1CBEF-9F4C-4234-A68C-AD730F4F5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81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640080"/>
            <a:ext cx="1554480" cy="1554480"/>
          </a:xfrm>
          <a:prstGeom prst="ellipse">
            <a:avLst/>
          </a:prstGeom>
          <a:solidFill>
            <a:srgbClr val="1FB6D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828800"/>
            <a:ext cx="731520" cy="731520"/>
          </a:xfrm>
          <a:prstGeom prst="ellipse">
            <a:avLst/>
          </a:prstGeom>
          <a:solidFill>
            <a:srgbClr val="F0567E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0"/>
            <a:ext cx="1280160" cy="1280160"/>
          </a:xfrm>
          <a:prstGeom prst="ellipse">
            <a:avLst/>
          </a:prstGeom>
          <a:solidFill>
            <a:srgbClr val="1FB6D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6035040"/>
            <a:ext cx="548640" cy="548640"/>
          </a:xfrm>
          <a:prstGeom prst="ellipse">
            <a:avLst/>
          </a:prstGeom>
          <a:solidFill>
            <a:srgbClr val="16B98A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&amp; COMPUTER VISION  · 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 of</a:t>
            </a:r>
            <a:endParaRPr lang="en-US" sz="48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Images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i="1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real photographs apart from synthetic, AI generated </a:t>
            </a:r>
            <a:r>
              <a:rPr lang="en-US" sz="1500" i="1" dirty="0" smtClean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20235A"/>
          </a:solidFill>
          <a:ln/>
          <a:effectLst>
            <a:outerShdw blurRad="114300" dist="38100" dir="2700000" algn="bl" rotWithShape="0">
              <a:srgbClr val="0A0B1E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24128" y="5285232"/>
            <a:ext cx="457200" cy="45720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" y="539953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5212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00200" y="5440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Tavish Pagore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480560" y="50749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20235A"/>
          </a:solidFill>
          <a:ln/>
          <a:effectLst>
            <a:outerShdw blurRad="114300" dist="38100" dir="2700000" algn="bl" rotWithShape="0">
              <a:srgbClr val="0A0B1E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1728" y="5285232"/>
            <a:ext cx="457200" cy="45720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028" y="539953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7800" y="5212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257800" y="5440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Seshadhiri Ganesh Ananthi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38160" y="50749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20235A"/>
          </a:solidFill>
          <a:ln/>
          <a:effectLst>
            <a:outerShdw blurRad="114300" dist="38100" dir="2700000" algn="bl" rotWithShape="0">
              <a:srgbClr val="0A0B1E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39328" y="5285232"/>
            <a:ext cx="457200" cy="45720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539953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15400" y="5212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915400" y="5440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Etienne Landry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 generated? The line is vanishing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generative models (</a:t>
            </a:r>
            <a:r>
              <a:rPr lang="en-US" sz="145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DALL·E) </a:t>
            </a:r>
            <a:r>
              <a:rPr lang="en-US" sz="14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produce images that are visually indistinguishable from real photographs. The same scene can be a genuine capture or a synthetic fabrication </a:t>
            </a:r>
            <a:r>
              <a:rPr lang="en-US" sz="145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to the eye, both look equally plausible.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problem: given a single image and no metadata, decide whether a camera or a model created 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18504" y="1819656"/>
            <a:ext cx="5376672" cy="2106500"/>
          </a:xfrm>
          <a:prstGeom prst="roundRect">
            <a:avLst>
              <a:gd name="adj" fmla="val 2170"/>
            </a:avLst>
          </a:prstGeom>
          <a:solidFill>
            <a:srgbClr val="FFFFFF"/>
          </a:solidFill>
          <a:ln w="12700">
            <a:solidFill>
              <a:srgbClr val="D9DBEC"/>
            </a:solidFill>
            <a:prstDash val="solid"/>
          </a:ln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pic>
        <p:nvPicPr>
          <p:cNvPr id="7" name="Image 0" descr="assets/v2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01952"/>
            <a:ext cx="5212080" cy="19419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397187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images from the DALL·E dataset </a:t>
            </a:r>
            <a:r>
              <a:rPr lang="en-US" sz="1000" i="1" dirty="0" smtClean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photographs (top row) vs AI-generated (bottom row).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synthetic images pass as real, the cost is not cosmetic </a:t>
            </a:r>
            <a:r>
              <a:rPr lang="en-US" sz="1450" i="1" dirty="0" smtClean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lands on information, money, and trust.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06040"/>
            <a:ext cx="868680" cy="868680"/>
          </a:xfrm>
          <a:prstGeom prst="ellipse">
            <a:avLst/>
          </a:prstGeom>
          <a:solidFill>
            <a:srgbClr val="EEEF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" y="282321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611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5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41148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photos of events, people, and places spread faster than fact-checks. A convincing fake can shape opinion before it is ever questioned.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22402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606040"/>
            <a:ext cx="868680" cy="868680"/>
          </a:xfrm>
          <a:prstGeom prst="ellipse">
            <a:avLst/>
          </a:prstGeom>
          <a:solidFill>
            <a:srgbClr val="EEEFF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282321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3611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deception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800600" y="41148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identities, forged documents, and fake product or property images enable scams, insurance fraud, and account takeovers at scale.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22402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1080" y="2606040"/>
            <a:ext cx="868680" cy="868680"/>
          </a:xfrm>
          <a:prstGeom prst="ellipse">
            <a:avLst/>
          </a:prstGeom>
          <a:solidFill>
            <a:srgbClr val="EEEFF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0" y="282321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3611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of digital trust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641080" y="41148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image could be fake, people stop trusting all images </a:t>
            </a:r>
            <a:r>
              <a:rPr lang="en-US" sz="125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genuine evidence. The credibility of visual media itself is undermined.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can't keep up </a:t>
            </a:r>
            <a:r>
              <a:rPr lang="en-US" sz="3000" b="1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machine must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0" cy="3429000"/>
          </a:xfrm>
          <a:prstGeom prst="roundRect">
            <a:avLst>
              <a:gd name="adj" fmla="val 2667"/>
            </a:avLst>
          </a:prstGeom>
          <a:solidFill>
            <a:srgbClr val="141533"/>
          </a:solidFill>
          <a:ln/>
          <a:effectLst>
            <a:outerShdw blurRad="114300" dist="38100" dir="2700000" algn="bl" rotWithShape="0">
              <a:srgbClr val="0A0B1E">
                <a:alpha val="2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06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7000" dirty="0"/>
          </a:p>
        </p:txBody>
      </p:sp>
      <p:sp>
        <p:nvSpPr>
          <p:cNvPr id="7" name="Text 4"/>
          <p:cNvSpPr/>
          <p:nvPr/>
        </p:nvSpPr>
        <p:spPr>
          <a:xfrm>
            <a:off x="868680" y="3794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accuracy at spotting the best AI-generated images </a:t>
            </a:r>
            <a:r>
              <a:rPr lang="en-US" sz="1300" dirty="0" smtClean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better than a coin flip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17720" y="17373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generation–verification asymmetry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617720" y="2286000"/>
            <a:ext cx="6903720" cy="868680"/>
          </a:xfrm>
          <a:prstGeom prst="roundRect">
            <a:avLst>
              <a:gd name="adj" fmla="val 7368"/>
            </a:avLst>
          </a:prstGeom>
          <a:solidFill>
            <a:srgbClr val="F4F5FB"/>
          </a:solidFill>
          <a:ln/>
        </p:spPr>
      </p:sp>
      <p:sp>
        <p:nvSpPr>
          <p:cNvPr id="10" name="Shape 7"/>
          <p:cNvSpPr/>
          <p:nvPr/>
        </p:nvSpPr>
        <p:spPr>
          <a:xfrm>
            <a:off x="4800600" y="2468880"/>
            <a:ext cx="502920" cy="502920"/>
          </a:xfrm>
          <a:prstGeom prst="ellipse">
            <a:avLst/>
          </a:prstGeom>
          <a:solidFill>
            <a:srgbClr val="EEEF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330" y="25946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3957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5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is now effortless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40680" y="270662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generate thousands of photorealistic fakes in minutes, for free.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17720" y="3246120"/>
            <a:ext cx="6903720" cy="868680"/>
          </a:xfrm>
          <a:prstGeom prst="roundRect">
            <a:avLst>
              <a:gd name="adj" fmla="val 7368"/>
            </a:avLst>
          </a:prstGeom>
          <a:solidFill>
            <a:srgbClr val="F4F5FB"/>
          </a:solidFill>
          <a:ln/>
        </p:spPr>
      </p:sp>
      <p:sp>
        <p:nvSpPr>
          <p:cNvPr id="15" name="Shape 11"/>
          <p:cNvSpPr/>
          <p:nvPr/>
        </p:nvSpPr>
        <p:spPr>
          <a:xfrm>
            <a:off x="4800600" y="3429000"/>
            <a:ext cx="502920" cy="502920"/>
          </a:xfrm>
          <a:prstGeom prst="ellipse">
            <a:avLst/>
          </a:prstGeom>
          <a:solidFill>
            <a:srgbClr val="EEEFF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330" y="35547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0680" y="33558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is hard and slow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40680" y="366674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inspecting each image for tell-tale artefacts doesn't scale to that volume.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17720" y="4206240"/>
            <a:ext cx="6903720" cy="868680"/>
          </a:xfrm>
          <a:prstGeom prst="roundRect">
            <a:avLst>
              <a:gd name="adj" fmla="val 7368"/>
            </a:avLst>
          </a:prstGeom>
          <a:solidFill>
            <a:srgbClr val="F4F5FB"/>
          </a:solidFill>
          <a:ln/>
        </p:spPr>
      </p:sp>
      <p:sp>
        <p:nvSpPr>
          <p:cNvPr id="20" name="Shape 15"/>
          <p:cNvSpPr/>
          <p:nvPr/>
        </p:nvSpPr>
        <p:spPr>
          <a:xfrm>
            <a:off x="4800600" y="4389120"/>
            <a:ext cx="502920" cy="502920"/>
          </a:xfrm>
          <a:prstGeom prst="ellipse">
            <a:avLst/>
          </a:prstGeom>
          <a:solidFill>
            <a:srgbClr val="EEEFF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6330" y="45148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43159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 closes the gap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40680" y="462686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checks every image consistently, instantly, and at scale </a:t>
            </a:r>
            <a:r>
              <a:rPr lang="en-US" sz="110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response that matches the pace of generation.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731520"/>
            <a:ext cx="2560320" cy="2560320"/>
          </a:xfrm>
          <a:prstGeom prst="ellipse">
            <a:avLst/>
          </a:prstGeom>
          <a:solidFill>
            <a:srgbClr val="1FB6D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5120640"/>
            <a:ext cx="2011680" cy="2011680"/>
          </a:xfrm>
          <a:prstGeom prst="ellipse">
            <a:avLst/>
          </a:prstGeom>
          <a:solidFill>
            <a:srgbClr val="F0567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CNN, trained from scratch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attempt: build a small convolutional network from the ground up and let it learn the real-vs-AI decision directly from pixels </a:t>
            </a:r>
            <a:r>
              <a:rPr lang="en-US" sz="1500" i="1" dirty="0" smtClean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i="1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baseline before reaching for anything heavier.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0235A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4892040"/>
            <a:ext cx="502920" cy="50292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501777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46634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dataset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108960" y="4663440"/>
            <a:ext cx="365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474720" y="46634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0235A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7600" y="4892040"/>
            <a:ext cx="502920" cy="50292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330" y="501777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51960" y="46634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760720" y="4663440"/>
            <a:ext cx="365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6126480" y="46634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0235A"/>
          </a:solidFill>
          <a:ln/>
        </p:spPr>
      </p:sp>
      <p:sp>
        <p:nvSpPr>
          <p:cNvPr id="18" name="Shape 14"/>
          <p:cNvSpPr/>
          <p:nvPr/>
        </p:nvSpPr>
        <p:spPr>
          <a:xfrm>
            <a:off x="6309360" y="4892040"/>
            <a:ext cx="502920" cy="50292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090" y="501777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46634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SimpleCNN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412480" y="4663440"/>
            <a:ext cx="365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8778240" y="46634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0235A"/>
          </a:solidFill>
          <a:ln/>
        </p:spPr>
      </p:sp>
      <p:sp>
        <p:nvSpPr>
          <p:cNvPr id="23" name="Shape 18"/>
          <p:cNvSpPr/>
          <p:nvPr/>
        </p:nvSpPr>
        <p:spPr>
          <a:xfrm>
            <a:off x="8961120" y="4892040"/>
            <a:ext cx="502920" cy="50292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850" y="501777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55480" y="46634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Recognition Dataset (Kaggle)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3969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0574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dataset: 3,781 real vs 17,857 AI-generated  </a:t>
            </a:r>
            <a:r>
              <a:rPr lang="en-US" sz="1250" dirty="0" smtClean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heavy ~1 : 4.7 class imbalance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986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281635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sampling at the source  </a:t>
            </a:r>
            <a:r>
              <a:rPr lang="en-US" sz="1250" dirty="0" smtClean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images drawn per class so training starts balanced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65760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8992" y="357530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 as a safety net  </a:t>
            </a:r>
            <a:r>
              <a:rPr lang="en-US" sz="1250" dirty="0" smtClean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 weighted up inside CrossEntropyLoss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416552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8992" y="4334256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deliberately avoided  </a:t>
            </a:r>
            <a:r>
              <a:rPr lang="en-US" sz="1250" dirty="0" smtClean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interpolating pixels yields blurry, meaningless images </a:t>
            </a:r>
            <a:r>
              <a:rPr lang="en-US" sz="1250" dirty="0" smtClean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suits tabular data, not photos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6492240" y="1600200"/>
            <a:ext cx="5029200" cy="3657600"/>
          </a:xfrm>
          <a:prstGeom prst="roundRect">
            <a:avLst>
              <a:gd name="adj" fmla="val 2250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766560" y="2286000"/>
            <a:ext cx="384048" cy="384048"/>
          </a:xfrm>
          <a:prstGeom prst="ellipse">
            <a:avLst/>
          </a:prstGeom>
          <a:solidFill>
            <a:srgbClr val="0E7C97"/>
          </a:solidFill>
          <a:ln/>
        </p:spPr>
      </p:sp>
      <p:sp>
        <p:nvSpPr>
          <p:cNvPr id="16" name="Text 10"/>
          <p:cNvSpPr/>
          <p:nvPr/>
        </p:nvSpPr>
        <p:spPr>
          <a:xfrm>
            <a:off x="676656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296912" y="22677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every image to 224 × 224 RGB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766560" y="2852928"/>
            <a:ext cx="384048" cy="384048"/>
          </a:xfrm>
          <a:prstGeom prst="ellipse">
            <a:avLst/>
          </a:prstGeom>
          <a:solidFill>
            <a:srgbClr val="0E7C97"/>
          </a:solidFill>
          <a:ln/>
        </p:spPr>
      </p:sp>
      <p:sp>
        <p:nvSpPr>
          <p:cNvPr id="19" name="Text 13"/>
          <p:cNvSpPr/>
          <p:nvPr/>
        </p:nvSpPr>
        <p:spPr>
          <a:xfrm>
            <a:off x="6766560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296912" y="2834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 (p = 0.5)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766560" y="3419856"/>
            <a:ext cx="384048" cy="384048"/>
          </a:xfrm>
          <a:prstGeom prst="ellipse">
            <a:avLst/>
          </a:prstGeom>
          <a:solidFill>
            <a:srgbClr val="0E7C97"/>
          </a:solidFill>
          <a:ln/>
        </p:spPr>
      </p:sp>
      <p:sp>
        <p:nvSpPr>
          <p:cNvPr id="22" name="Text 16"/>
          <p:cNvSpPr/>
          <p:nvPr/>
        </p:nvSpPr>
        <p:spPr>
          <a:xfrm>
            <a:off x="6766560" y="3419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296912" y="34015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 (±10°)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766560" y="3986784"/>
            <a:ext cx="384048" cy="384048"/>
          </a:xfrm>
          <a:prstGeom prst="ellipse">
            <a:avLst/>
          </a:prstGeom>
          <a:solidFill>
            <a:srgbClr val="0E7C97"/>
          </a:solidFill>
          <a:ln/>
        </p:spPr>
      </p:sp>
      <p:sp>
        <p:nvSpPr>
          <p:cNvPr id="25" name="Text 19"/>
          <p:cNvSpPr/>
          <p:nvPr/>
        </p:nvSpPr>
        <p:spPr>
          <a:xfrm>
            <a:off x="6766560" y="3986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296912" y="396849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tensor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766560" y="4553712"/>
            <a:ext cx="384048" cy="384048"/>
          </a:xfrm>
          <a:prstGeom prst="ellipse">
            <a:avLst/>
          </a:prstGeom>
          <a:solidFill>
            <a:srgbClr val="0E7C97"/>
          </a:solidFill>
          <a:ln/>
        </p:spPr>
      </p:sp>
      <p:sp>
        <p:nvSpPr>
          <p:cNvPr id="28" name="Text 22"/>
          <p:cNvSpPr/>
          <p:nvPr/>
        </p:nvSpPr>
        <p:spPr>
          <a:xfrm>
            <a:off x="6766560" y="4553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296912" y="453542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to ImageNet mean / std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766560" y="51663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only on the training split; the test split is resized &amp; normalized only.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3-block convolutional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4F5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128016" cy="548640"/>
          </a:xfrm>
          <a:prstGeom prst="roundRect">
            <a:avLst>
              <a:gd name="adj" fmla="val 14286"/>
            </a:avLst>
          </a:prstGeom>
          <a:solidFill>
            <a:srgbClr val="5B607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1645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× 3 RGB image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249424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4F5F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49424"/>
            <a:ext cx="128016" cy="548640"/>
          </a:xfrm>
          <a:prstGeom prst="roundRect">
            <a:avLst>
              <a:gd name="adj" fmla="val 14286"/>
            </a:avLst>
          </a:prstGeom>
          <a:solidFill>
            <a:srgbClr val="0E7C9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94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24942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3→32 · ReLU · MaxPool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852928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4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852928"/>
            <a:ext cx="128016" cy="548640"/>
          </a:xfrm>
          <a:prstGeom prst="roundRect">
            <a:avLst>
              <a:gd name="adj" fmla="val 14286"/>
            </a:avLst>
          </a:prstGeom>
          <a:solidFill>
            <a:srgbClr val="0E7C9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85292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85292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32→64 · ReLU · MaxPool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56432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4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456432"/>
            <a:ext cx="128016" cy="548640"/>
          </a:xfrm>
          <a:prstGeom prst="roundRect">
            <a:avLst>
              <a:gd name="adj" fmla="val 14286"/>
            </a:avLst>
          </a:prstGeom>
          <a:solidFill>
            <a:srgbClr val="0E7C9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564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345643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64→128 · ReLU · MaxPool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59936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4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059936"/>
            <a:ext cx="128016" cy="548640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05993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+ Dropout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06040" y="4059936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→ 256 · ReLU · Dropout 0.5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4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663440"/>
            <a:ext cx="128016" cy="548640"/>
          </a:xfrm>
          <a:prstGeom prst="roundRect">
            <a:avLst>
              <a:gd name="adj" fmla="val 14286"/>
            </a:avLst>
          </a:prstGeom>
          <a:solidFill>
            <a:srgbClr val="F0567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663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06040" y="46634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1150" dirty="0" err="1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</a:t>
            </a: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AI-Generated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code from the notebook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47776" y="1773936"/>
            <a:ext cx="3226689" cy="4507992"/>
          </a:xfrm>
          <a:prstGeom prst="roundRect">
            <a:avLst>
              <a:gd name="adj" fmla="val 1417"/>
            </a:avLst>
          </a:prstGeom>
          <a:solidFill>
            <a:srgbClr val="141533"/>
          </a:solidFill>
          <a:ln w="12700">
            <a:solidFill>
              <a:srgbClr val="20235A"/>
            </a:solidFill>
            <a:prstDash val="solid"/>
          </a:ln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pic>
        <p:nvPicPr>
          <p:cNvPr id="30" name="Image 0" descr="assets/code_v1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071" y="1856232"/>
            <a:ext cx="3062097" cy="43434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·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4F5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77440" y="1691640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 (class-weighted)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76856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4F5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76856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2276856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· learning rate 1e-3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62072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4F5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62072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77440" y="2862072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StepLR</a:t>
            </a: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LR every 5 epochs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47288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4F5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4728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3447288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32504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4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32504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77440" y="4032504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4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61772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77440" y="4617720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train–test, stratified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24865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are computed from the train split, so the minority class counts more during back-propagation.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code from the notebook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3658" y="1956816"/>
            <a:ext cx="5114925" cy="3410712"/>
          </a:xfrm>
          <a:prstGeom prst="roundRect">
            <a:avLst>
              <a:gd name="adj" fmla="val 1340"/>
            </a:avLst>
          </a:prstGeom>
          <a:solidFill>
            <a:srgbClr val="141533"/>
          </a:solidFill>
          <a:ln w="12700">
            <a:solidFill>
              <a:srgbClr val="20235A"/>
            </a:solidFill>
            <a:prstDash val="solid"/>
          </a:ln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pic>
        <p:nvPicPr>
          <p:cNvPr id="25" name="Image 0" descr="assets/code_v1_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954" y="2039112"/>
            <a:ext cx="4950333" cy="32461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· PRELIMINARY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works </a:t>
            </a:r>
            <a:r>
              <a:rPr lang="en-US" sz="3000" b="1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just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64592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7830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60320" y="25420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trained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64592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7830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2.0k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480560" y="25420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(1k+1k)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from-scratch CNN learns the task to roughly four-in-five correct </a:t>
            </a:r>
            <a:r>
              <a:rPr lang="en-US" sz="125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usable, but well short of dependable.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~2,000 training images (1,000 per class as configured), the network learns its visual features from a near-cold start in just 20 epochs.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headroom remains </a:t>
            </a:r>
            <a:r>
              <a:rPr lang="en-US" sz="125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motivating the move to a pretrained backbone in Approach 2.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132320" y="5897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on the test set (Real vs AI-Generated).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355080" y="36393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</a:t>
            </a:r>
            <a:r>
              <a:rPr lang="en-US" sz="1000" i="1" dirty="0" smtClean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accuracy across the 20 epochs.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4" name="Rounded Rectangle 23"/>
          <p:cNvSpPr/>
          <p:nvPr/>
        </p:nvSpPr>
        <p:spPr>
          <a:xfrm>
            <a:off x="6355080" y="169164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v1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51076"/>
            <a:ext cx="4937760" cy="175564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726679" y="4114800"/>
            <a:ext cx="24688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v1_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59" y="4183380"/>
            <a:ext cx="21031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937760"/>
            <a:ext cx="2377440" cy="2377440"/>
          </a:xfrm>
          <a:prstGeom prst="ellipse">
            <a:avLst/>
          </a:prstGeom>
          <a:solidFill>
            <a:srgbClr val="1FB6D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· WHAT CHANGED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→ transfer learning with ResNet-50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5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2668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10881360" cy="658368"/>
          </a:xfrm>
          <a:prstGeom prst="rect">
            <a:avLst/>
          </a:prstGeom>
          <a:solidFill>
            <a:srgbClr val="20235A">
              <a:alpha val="6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0" y="23774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SimpleCNN, 3 </a:t>
            </a:r>
            <a:r>
              <a:rPr lang="en-US" sz="1200" dirty="0" err="1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r>
              <a:rPr lang="en-US" sz="120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smtClean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26680" y="23774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ResNet-50, fine-tuned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03580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303580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+ small rotation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26680" y="303580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RandomResizedCrop + ColorJitter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694176"/>
            <a:ext cx="10881360" cy="658368"/>
          </a:xfrm>
          <a:prstGeom prst="rect">
            <a:avLst/>
          </a:prstGeom>
          <a:solidFill>
            <a:srgbClr val="20235A">
              <a:alpha val="6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9417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369417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1e-3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26680" y="369417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lr 1e-4, weight decay 1e-4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35254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0" y="435254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only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26680" y="435254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(proper held-out)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010912"/>
            <a:ext cx="10881360" cy="658368"/>
          </a:xfrm>
          <a:prstGeom prst="rect">
            <a:avLst/>
          </a:prstGeom>
          <a:solidFill>
            <a:srgbClr val="20235A">
              <a:alpha val="6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01091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57600" y="50109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epoch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26680" y="50109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accuracy (checkpointed)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56692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57600" y="56692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StepLR (halve every 5)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26680" y="56692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CosineAnnealingLR (smooth decay)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pretrained ResNet-50?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learning visual features from a cold start, we reuse a network that already understands images </a:t>
            </a:r>
            <a:r>
              <a:rPr lang="en-US" sz="140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teach it only the final decision.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486400" cy="841248"/>
          </a:xfrm>
          <a:prstGeom prst="roundRect">
            <a:avLst>
              <a:gd name="adj" fmla="val 7609"/>
            </a:avLst>
          </a:prstGeom>
          <a:solidFill>
            <a:srgbClr val="F4F5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79192"/>
            <a:ext cx="502920" cy="502920"/>
          </a:xfrm>
          <a:prstGeom prst="ellipse">
            <a:avLst/>
          </a:prstGeom>
          <a:solidFill>
            <a:srgbClr val="EEEF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2804922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6060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ImageNet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63040" y="29169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images </a:t>
            </a:r>
            <a:r>
              <a:rPr lang="en-US" sz="110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detects edges, textures, materials, shapes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486400" cy="841248"/>
          </a:xfrm>
          <a:prstGeom prst="roundRect">
            <a:avLst>
              <a:gd name="adj" fmla="val 7609"/>
            </a:avLst>
          </a:prstGeom>
          <a:solidFill>
            <a:srgbClr val="F4F5FB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3593592"/>
            <a:ext cx="502920" cy="502920"/>
          </a:xfrm>
          <a:prstGeom prst="ellipse">
            <a:avLst/>
          </a:prstGeom>
          <a:solidFill>
            <a:srgbClr val="EEEFF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371932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5204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only the head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463040" y="38313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layer swapped from 2048→1000 to 2048→2 (Real / AI), with dropout 0.3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343400"/>
            <a:ext cx="5486400" cy="841248"/>
          </a:xfrm>
          <a:prstGeom prst="roundRect">
            <a:avLst>
              <a:gd name="adj" fmla="val 7609"/>
            </a:avLst>
          </a:prstGeom>
          <a:solidFill>
            <a:srgbClr val="F4F5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507992"/>
            <a:ext cx="502920" cy="502920"/>
          </a:xfrm>
          <a:prstGeom prst="ellipse">
            <a:avLst/>
          </a:prstGeom>
          <a:solidFill>
            <a:srgbClr val="EEEFF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" y="463372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4348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layers vs 3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63040" y="47457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~23.5M parameters carry rich, transferable visual knowledge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9224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code from the notebook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9944" y="2002536"/>
            <a:ext cx="5193792" cy="3053277"/>
          </a:xfrm>
          <a:prstGeom prst="roundRect">
            <a:avLst>
              <a:gd name="adj" fmla="val 1497"/>
            </a:avLst>
          </a:prstGeom>
          <a:solidFill>
            <a:srgbClr val="141533"/>
          </a:solidFill>
          <a:ln w="12700">
            <a:solidFill>
              <a:srgbClr val="20235A"/>
            </a:solidFill>
            <a:prstDash val="solid"/>
          </a:ln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pic>
        <p:nvPicPr>
          <p:cNvPr id="22" name="Image 3" descr="assets/code_v2_resn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084832"/>
            <a:ext cx="5029200" cy="28886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· DATA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50 / 50 sample, honest splits &amp; augmentation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141533"/>
          </a:solidFill>
          <a:ln/>
          <a:effectLst>
            <a:outerShdw blurRad="114300" dist="38100" dir="2700000" algn="bl" rotWithShape="0">
              <a:srgbClr val="0A0B1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55648"/>
            <a:ext cx="502920" cy="50292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88137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real</a:t>
            </a:r>
            <a:r>
              <a:rPr lang="en-US" sz="14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r>
              <a:rPr lang="en-US" sz="1450" b="1" dirty="0">
                <a:solidFill>
                  <a:srgbClr val="F05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AI-generated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used to train the model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19456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real: picked 3780 of 3780 images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fake: picked 3781 of 17855 images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3-way split (stratified)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520440"/>
            <a:ext cx="3767328" cy="548640"/>
          </a:xfrm>
          <a:prstGeom prst="roundRect">
            <a:avLst>
              <a:gd name="adj" fmla="val 8333"/>
            </a:avLst>
          </a:prstGeom>
          <a:solidFill>
            <a:srgbClr val="0E7C97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520440"/>
            <a:ext cx="3767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3520440"/>
            <a:ext cx="749808" cy="548640"/>
          </a:xfrm>
          <a:prstGeom prst="roundRect">
            <a:avLst>
              <a:gd name="adj" fmla="val 8333"/>
            </a:avLst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480560" y="3520440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0" y="3520440"/>
            <a:ext cx="749808" cy="548640"/>
          </a:xfrm>
          <a:prstGeom prst="roundRect">
            <a:avLst>
              <a:gd name="adj" fmla="val 8333"/>
            </a:avLst>
          </a:prstGeom>
          <a:solidFill>
            <a:srgbClr val="16B98A"/>
          </a:solidFill>
          <a:ln/>
        </p:spPr>
      </p:sp>
      <p:sp>
        <p:nvSpPr>
          <p:cNvPr id="15" name="Text 12"/>
          <p:cNvSpPr/>
          <p:nvPr/>
        </p:nvSpPr>
        <p:spPr>
          <a:xfrm>
            <a:off x="5303520" y="3520440"/>
            <a:ext cx="749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8368" y="4288536"/>
            <a:ext cx="137160" cy="137160"/>
          </a:xfrm>
          <a:prstGeom prst="ellipse">
            <a:avLst/>
          </a:prstGeom>
          <a:solidFill>
            <a:srgbClr val="0E7C97"/>
          </a:solidFill>
          <a:ln/>
        </p:spPr>
      </p:sp>
      <p:sp>
        <p:nvSpPr>
          <p:cNvPr id="17" name="Text 14"/>
          <p:cNvSpPr/>
          <p:nvPr/>
        </p:nvSpPr>
        <p:spPr>
          <a:xfrm>
            <a:off x="896112" y="4206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</a:t>
            </a:r>
            <a:r>
              <a:rPr lang="en-US" sz="1150" b="1" dirty="0" smtClean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from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58368" y="4672584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96112" y="45902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</a:t>
            </a:r>
            <a:r>
              <a:rPr lang="en-US" sz="1150" b="1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best epoch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58368" y="5056632"/>
            <a:ext cx="137160" cy="137160"/>
          </a:xfrm>
          <a:prstGeom prst="ellipse">
            <a:avLst/>
          </a:prstGeom>
          <a:solidFill>
            <a:srgbClr val="16B98A"/>
          </a:solidFill>
          <a:ln/>
        </p:spPr>
      </p:sp>
      <p:sp>
        <p:nvSpPr>
          <p:cNvPr id="21" name="Text 18"/>
          <p:cNvSpPr/>
          <p:nvPr/>
        </p:nvSpPr>
        <p:spPr>
          <a:xfrm>
            <a:off x="896112" y="49743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r>
              <a:rPr lang="en-US" sz="1150" b="1" dirty="0" smtClean="0">
                <a:solidFill>
                  <a:srgbClr val="16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touched only at the end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0080" y="544982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earlier leak where the test set was used both to pick the best epoch and to report the final number.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36942" y="1545336"/>
            <a:ext cx="5048357" cy="1856232"/>
          </a:xfrm>
          <a:prstGeom prst="roundRect">
            <a:avLst>
              <a:gd name="adj" fmla="val 2463"/>
            </a:avLst>
          </a:prstGeom>
          <a:solidFill>
            <a:srgbClr val="FFFFFF"/>
          </a:solidFill>
          <a:ln w="12700">
            <a:solidFill>
              <a:srgbClr val="D9DBEC"/>
            </a:solidFill>
            <a:prstDash val="solid"/>
          </a:ln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pic>
        <p:nvPicPr>
          <p:cNvPr id="24" name="Image 1" descr="assets/v2_class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238" y="1627632"/>
            <a:ext cx="4883765" cy="16916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355080" y="344728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of the balanced sample (notebook EDA).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355080" y="3703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code from the notebook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90411" y="4014216"/>
            <a:ext cx="4941418" cy="1993392"/>
          </a:xfrm>
          <a:prstGeom prst="roundRect">
            <a:avLst>
              <a:gd name="adj" fmla="val 2294"/>
            </a:avLst>
          </a:prstGeom>
          <a:solidFill>
            <a:srgbClr val="141533"/>
          </a:solidFill>
          <a:ln w="12700">
            <a:solidFill>
              <a:srgbClr val="20235A"/>
            </a:solidFill>
            <a:prstDash val="solid"/>
          </a:ln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pic>
        <p:nvPicPr>
          <p:cNvPr id="28" name="Image 2" descr="assets/code_v2_a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707" y="4096512"/>
            <a:ext cx="4776826" cy="18288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·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fine-tuning + best-model checkpointing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841248"/>
          </a:xfrm>
          <a:prstGeom prst="roundRect">
            <a:avLst>
              <a:gd name="adj" fmla="val 7609"/>
            </a:avLst>
          </a:prstGeom>
          <a:solidFill>
            <a:srgbClr val="F4F5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0E7C9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learning rate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2093976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 </a:t>
            </a:r>
            <a:r>
              <a:rPr lang="en-US" sz="1100" dirty="0" smtClean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careful updates so the valuable pretrained weights aren't smashed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5486400" cy="841248"/>
          </a:xfrm>
          <a:prstGeom prst="roundRect">
            <a:avLst>
              <a:gd name="adj" fmla="val 7609"/>
            </a:avLst>
          </a:prstGeom>
          <a:solidFill>
            <a:srgbClr val="F4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807208"/>
            <a:ext cx="457200" cy="457200"/>
          </a:xfrm>
          <a:prstGeom prst="ellipse">
            <a:avLst/>
          </a:prstGeom>
          <a:solidFill>
            <a:srgbClr val="0E7C9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974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weight decay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17320" y="3008376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 decay for slightly better generalization than plain Adam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486400" cy="841248"/>
          </a:xfrm>
          <a:prstGeom prst="roundRect">
            <a:avLst>
              <a:gd name="adj" fmla="val 7609"/>
            </a:avLst>
          </a:prstGeom>
          <a:solidFill>
            <a:srgbClr val="F4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721608"/>
            <a:ext cx="457200" cy="457200"/>
          </a:xfrm>
          <a:prstGeom prst="ellipse">
            <a:avLst/>
          </a:prstGeom>
          <a:solidFill>
            <a:srgbClr val="0E7C9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6118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CosineAnnealingLR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17320" y="3922776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LR decay over the 4 epochs instead of abrupt halving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5486400" cy="841248"/>
          </a:xfrm>
          <a:prstGeom prst="roundRect">
            <a:avLst>
              <a:gd name="adj" fmla="val 7609"/>
            </a:avLst>
          </a:prstGeom>
          <a:solidFill>
            <a:srgbClr val="F4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636008"/>
            <a:ext cx="457200" cy="457200"/>
          </a:xfrm>
          <a:prstGeom prst="ellipse">
            <a:avLst/>
          </a:prstGeom>
          <a:solidFill>
            <a:srgbClr val="0E7C9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5262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Best-model checkpoint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17320" y="4837176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weights whenever validation accuracy improves; reload the best at the 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code from the notebook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63894" y="1911096"/>
            <a:ext cx="5085893" cy="4370832"/>
          </a:xfrm>
          <a:prstGeom prst="roundRect">
            <a:avLst>
              <a:gd name="adj" fmla="val 1046"/>
            </a:avLst>
          </a:prstGeom>
          <a:solidFill>
            <a:srgbClr val="141533"/>
          </a:solidFill>
          <a:ln w="12700">
            <a:solidFill>
              <a:srgbClr val="20235A"/>
            </a:solidFill>
            <a:prstDash val="solid"/>
          </a:ln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pic>
        <p:nvPicPr>
          <p:cNvPr id="26" name="Image 0" descr="assets/code_v2_ck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190" y="1993392"/>
            <a:ext cx="4921301" cy="42062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· FINAL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accuracy on the untouched test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105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6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21408" y="16459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21408" y="18105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121408" y="2487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02736" y="16459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2736" y="18105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602736" y="2487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84064" y="16459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84064" y="18105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0.934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084064" y="2487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Per-class:  </a:t>
            </a:r>
            <a:r>
              <a:rPr lang="en-US" sz="1250" b="1" dirty="0">
                <a:solidFill>
                  <a:srgbClr val="16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525/567 (92.6%)</a:t>
            </a: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50" b="1" dirty="0">
                <a:solidFill>
                  <a:srgbClr val="F05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534/568 (94.0%)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accuracy of 0.930 reached at epoch 3 of 4 and checkpointed; test set never seen during training or model selection </a:t>
            </a:r>
            <a:r>
              <a:rPr lang="en-US" sz="130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this is the generalizable number.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58021" y="1618488"/>
            <a:ext cx="5167914" cy="1947672"/>
          </a:xfrm>
          <a:prstGeom prst="roundRect">
            <a:avLst>
              <a:gd name="adj" fmla="val 2347"/>
            </a:avLst>
          </a:prstGeom>
          <a:solidFill>
            <a:srgbClr val="FFFFFF"/>
          </a:solidFill>
          <a:ln w="12700">
            <a:solidFill>
              <a:srgbClr val="D9DBEC"/>
            </a:solidFill>
            <a:prstDash val="solid"/>
          </a:ln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pic>
        <p:nvPicPr>
          <p:cNvPr id="19" name="Image 0" descr="assets/v2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179" y="1700784"/>
            <a:ext cx="5003322" cy="1783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46520" y="3611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validation loss / accuracy (best epoch marked).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961955" y="3968496"/>
            <a:ext cx="2089770" cy="1673352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12700">
            <a:solidFill>
              <a:srgbClr val="D9DBEC"/>
            </a:solidFill>
            <a:prstDash val="solid"/>
          </a:ln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pic>
        <p:nvPicPr>
          <p:cNvPr id="22" name="Image 1" descr="assets/v2_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51" y="4050792"/>
            <a:ext cx="1925178" cy="1508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818120" y="5687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</a:t>
            </a:r>
            <a:r>
              <a:rPr lang="en-US" sz="1000" i="1" dirty="0" smtClean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 test set.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vs Approach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6596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783080"/>
            <a:ext cx="5257800" cy="3520440"/>
          </a:xfrm>
          <a:prstGeom prst="roundRect">
            <a:avLst>
              <a:gd name="adj" fmla="val 2338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+13-point jump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37960" y="24231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features beat from-scratch learning on a small (~7.5k-image) dataset.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augmentation reduced overfitting and improved generalization.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low LR + cosine schedule made stable, careful updates to good weights.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 held-out test set makes the 93.3% trustworthy </a:t>
            </a:r>
            <a:r>
              <a:rPr lang="en-US" sz="125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 from model selection.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Best-epoch checkpointing kept the strongest model rather than the last one.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194560" cy="2194560"/>
          </a:xfrm>
          <a:prstGeom prst="ellipse">
            <a:avLst/>
          </a:prstGeom>
          <a:solidFill>
            <a:srgbClr val="1FB6D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20235A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331720"/>
            <a:ext cx="640080" cy="64008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4917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1671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 is necessary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65960" y="2606040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hover near chance on the best fakes; a trained model is the only response that scales to the volume of generated imagery.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483864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20235A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3849624"/>
            <a:ext cx="640080" cy="64008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4009644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368503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is the bigger lever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965960" y="4123944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a from-scratch CNN for a pretrained ResNet-50 lifted accuracy from ~80% to 93.3% </a:t>
            </a:r>
            <a:r>
              <a:rPr lang="en-US" sz="1250" dirty="0" smtClean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any single hyperparameter tweak.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5001768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20235A"/>
          </a:solidFill>
          <a:ln/>
        </p:spPr>
      </p:sp>
      <p:sp>
        <p:nvSpPr>
          <p:cNvPr id="16" name="Shape 12"/>
          <p:cNvSpPr/>
          <p:nvPr/>
        </p:nvSpPr>
        <p:spPr>
          <a:xfrm>
            <a:off x="1097280" y="5367528"/>
            <a:ext cx="640080" cy="64008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552754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5202936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decides credibility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965960" y="5641848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sampling, a true held-out test split, and best-epoch checkpointing are what make the final number honest, not just high.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611880"/>
          </a:xfrm>
          <a:prstGeom prst="roundRect">
            <a:avLst>
              <a:gd name="adj" fmla="val 2278"/>
            </a:avLst>
          </a:prstGeom>
          <a:solidFill>
            <a:srgbClr val="F4F5FB"/>
          </a:solidFill>
          <a:ln/>
          <a:effectLst>
            <a:outerShdw blurRad="114300" dist="38100" dir="2700000" algn="bl" rotWithShape="0">
              <a:srgbClr val="0A0B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EEEFF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385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5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mainly on DALL·E-style images </a:t>
            </a:r>
            <a:r>
              <a:rPr lang="en-US" sz="1200" dirty="0" smtClean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transfer to Midjourney, Stable Diffusion, or newer generators.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Subsampled to 3,781 fakes for balance; most of the 17,857 available fakes went unused.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fine-tuning epochs at 224×224 resolution.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insight yet into which image cues the model relies on.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Adversarially edited or compressed fakes were not stress-tested.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349240" cy="3611880"/>
          </a:xfrm>
          <a:prstGeom prst="roundRect">
            <a:avLst>
              <a:gd name="adj" fmla="val 2278"/>
            </a:avLst>
          </a:prstGeom>
          <a:solidFill>
            <a:srgbClr val="141533"/>
          </a:solidFill>
          <a:ln/>
          <a:effectLst>
            <a:outerShdw blurRad="114300" dist="38100" dir="2700000" algn="bl" rotWithShape="0">
              <a:srgbClr val="0A0B1E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rgbClr val="0E7C9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0116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385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46520" y="246888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all 17,857 fakes using class weights instead of subsampling.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 (320–384) and stronger backbones </a:t>
            </a:r>
            <a:r>
              <a:rPr lang="en-US" sz="1200" dirty="0" smtClean="0">
                <a:solidFill>
                  <a:srgbClr val="D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D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EfficientNet-B0, ConvNeXt-Tiny.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Grad-CAM to visualize the regions driving each decision.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fine-tuning: freeze the backbone first, then unfreeze.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cross-generator generalization and robustness to compression.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1543</Words>
  <Application>Microsoft Office PowerPoint</Application>
  <PresentationFormat>Custom</PresentationFormat>
  <Paragraphs>250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Detection of AI-Generated Images</dc:title>
  <dc:subject>PptxGenJS Presentation</dc:subject>
  <dc:creator>Pagore, Ganesh Ananthi, Landry</dc:creator>
  <cp:lastModifiedBy>Swift ProSys</cp:lastModifiedBy>
  <cp:revision>4</cp:revision>
  <dcterms:created xsi:type="dcterms:W3CDTF">2026-06-30T21:08:39Z</dcterms:created>
  <dcterms:modified xsi:type="dcterms:W3CDTF">2026-06-30T22:04:45Z</dcterms:modified>
</cp:coreProperties>
</file>